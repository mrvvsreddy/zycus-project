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Monthly Portfolio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0175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8"/>
                </a:solidFill>
                <a:latin typeface="Calibri"/>
              </a:defRPr>
            </a:pPr>
            <a:r>
              <a:t>Executive Summary  ·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90"/>
                </a:solidFill>
                <a:latin typeface="Calibri"/>
              </a:defRPr>
            </a:pPr>
            <a:r>
              <a:t>Auto-generated by Project Health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560320" cy="146304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54864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8"/>
                </a:solidFill>
                <a:latin typeface="Calibri"/>
              </a:defRPr>
            </a:pPr>
            <a:r>
              <a:t>Active Projects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560320" cy="146304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1417320"/>
            <a:ext cx="54864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867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8"/>
                </a:solidFill>
                <a:latin typeface="Calibri"/>
              </a:defRPr>
            </a:pPr>
            <a:r>
              <a:t>Total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2560320" cy="146304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417320"/>
            <a:ext cx="548640" cy="3810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BE0B"/>
                </a:solidFill>
                <a:latin typeface="Calibri"/>
              </a:defRPr>
            </a:pPr>
            <a:r>
              <a:t>12.7%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8"/>
                </a:solidFill>
                <a:latin typeface="Calibri"/>
              </a:defRPr>
            </a:pPr>
            <a:r>
              <a:t>Overdue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560320" cy="146304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72600" y="1417320"/>
            <a:ext cx="548640" cy="381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4D6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8"/>
                </a:solidFill>
                <a:latin typeface="Calibri"/>
              </a:defRPr>
            </a:pPr>
            <a:r>
              <a:t>Total Blockers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3840480" cy="38404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486400" y="3383280"/>
            <a:ext cx="5943600" cy="82296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3383280"/>
            <a:ext cx="50800" cy="8229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4930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8"/>
                </a:solidFill>
                <a:latin typeface="Calibri"/>
              </a:defRPr>
            </a:pPr>
            <a:r>
              <a:t>Green Projects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389120"/>
            <a:ext cx="5943600" cy="82296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4389120"/>
            <a:ext cx="50800" cy="82296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49884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E0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8"/>
                </a:solidFill>
                <a:latin typeface="Calibri"/>
              </a:defRPr>
            </a:pPr>
            <a:r>
              <a:t>Amber Projects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5394960"/>
            <a:ext cx="5943600" cy="82296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5394960"/>
            <a:ext cx="50800" cy="82296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550468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D6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8"/>
                </a:solidFill>
                <a:latin typeface="Calibri"/>
              </a:defRPr>
            </a:pPr>
            <a:r>
              <a:t>Red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Portfolio Trends: Overdue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1153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Portfolio Trends: Blockers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11535" cy="4754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7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Portfolio-wide: 5 blockers, 0 critical blocked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Emerging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828800" cy="381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515600" cy="50292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Overdue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Blockers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447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Active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10515600" cy="54864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7568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075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D6A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075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41.7%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7568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07568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07568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484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514600"/>
            <a:ext cx="10515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2432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UniSan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62432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62432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243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62432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62432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8"/>
                </a:solidFill>
                <a:latin typeface="Calibri"/>
              </a:defRPr>
            </a:pPr>
            <a:r>
              <a:t>383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2697480"/>
            <a:ext cx="109728" cy="109728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789920" cy="96012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80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Program is heavily polarized with Project Titan (Red) carrying all 5 blockers and 41.7% overdue tasks, while UniSan (Green) shows zero overdue, indicating a single-point-of-failure risk concentrated in one large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0789920" cy="96012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80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24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Despite only 12.7% overall overdue, Titan's 484 active tasks represent 55.8% of total portfolio activity, meaning a single project's performance skews the entire portfolio health and delivery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40"/>
            <a:ext cx="10789920" cy="96012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5080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13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8620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Zero critical blocked tasks across both projects is a positive signal, but Titan's 5 blockers and high overdue rate suggest systemic execution issues that could escalate into critical path delays if unaddressed.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789920" cy="96012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800" cy="9601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Immediately dispatch a dedicated SWAT team to Titan to unblock all 5 blockers and conduct a deep-dive into the 41.7% overdue tasks to identify root causes and reprioritize resources.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0789920" cy="96012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800" cy="9601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24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Establish a daily stand-up for Titan leadership to track blocker resolution and overdue reduction, with a mandatory escalation threshold if overdue percentage does not drop below 30% within two weeks.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40"/>
            <a:ext cx="10789920" cy="960120"/>
          </a:xfrm>
          <a:prstGeom prst="roundRect">
            <a:avLst/>
          </a:prstGeom>
          <a:solidFill>
            <a:srgbClr val="25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50800" cy="9601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13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8620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Perform a workload assessment to determine if Titan's 484 active tasks are realistic in scope, and consider shifting non-critical tasks to UniSan to balance portfolio risk and leverage its Green performance capacity.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Report generated July 09, 2026  ·  Project Health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